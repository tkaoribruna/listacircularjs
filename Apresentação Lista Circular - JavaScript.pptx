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F30BFB-1D78-4B91-B2F3-D8AE75EDD401}">
  <a:tblStyle styleId="{16F30BFB-1D78-4B91-B2F3-D8AE75EDD40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00250"/>
            <a:ext cx="1160145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75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Lista Circular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51472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Estrutura de Dados e Linguagens de Programação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5772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Equipe 3: Rafael, Lucas, Daniel, Bruna e Guilherme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295275" y="30099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JavaScript: Uma Breve Jornada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Origem e Curiosidades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2479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Início Explosivo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2676525"/>
            <a:ext cx="10751343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Criado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apenas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10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dias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Brendan Eich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1995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Netscape.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Originalmente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chamado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Mocha,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depois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LiveScript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0290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Mito do Nome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4457700"/>
            <a:ext cx="110490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nome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"JavaScript"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foi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uma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jogada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marketing para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aproveitar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sucesso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linguagem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Java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época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apesar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serem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tecnicamente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muito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diferentes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3575"/>
            <a:ext cx="3492549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33575"/>
            <a:ext cx="3492549" cy="399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33575"/>
            <a:ext cx="3492549" cy="399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Configuração do Ambiente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2266950"/>
            <a:ext cx="28257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04875" y="288607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Node.js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04875" y="3438525"/>
            <a:ext cx="2825799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ambiente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execução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permite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rodar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JavaScript fora do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navegador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essencial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para testes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servidor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lógica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pura.</a:t>
            </a:r>
            <a:endParaRPr dirty="0"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83174" y="2266950"/>
            <a:ext cx="28257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683174" y="288607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VS Code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83174" y="3438525"/>
            <a:ext cx="2825799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Editor de código líder da indústria com excelentes extensões de IntelliSense e depuração para ecossistema JS.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266950"/>
            <a:ext cx="28257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461474" y="2886075"/>
            <a:ext cx="296708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DevTools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61474" y="3438525"/>
            <a:ext cx="2825799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 console do navegador (F12) é o playground imediato para testar sintaxes e manipular o DOM em tempo real.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70175"/>
            <a:ext cx="5286375" cy="17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Sintaxe Básica e Tipagem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71499" y="2838513"/>
            <a:ext cx="52863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Declarações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let e const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substituíram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antigo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var.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571498" y="3405567"/>
            <a:ext cx="52863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Tipagem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Dinâmica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Variáveis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podem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mudar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tipo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execução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243387"/>
            <a:ext cx="5286375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Template Literals: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Uso de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crases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interpolação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de strings.</a:t>
            </a:r>
            <a:endParaRPr dirty="0"/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29551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350602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4353495"/>
            <a:ext cx="18097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258716"/>
            <a:ext cx="5286375" cy="82659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Primeiro Passo: Hello World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334125" y="2677566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 Função console.log()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3106191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forma mais básica de saída de dados no JavaScript. Utilizada tanto no terminal quanto no console do navegador para depuração.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 txBox="1"/>
          <p:nvPr/>
        </p:nvSpPr>
        <p:spPr>
          <a:xfrm>
            <a:off x="809625" y="1100137"/>
            <a:ext cx="4950618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</a:t>
            </a:r>
            <a:r>
              <a:rPr lang="en-US" sz="3900" b="1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q</a:t>
            </a:r>
            <a:r>
              <a:rPr lang="en-US" sz="39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ue</a:t>
            </a:r>
            <a:r>
              <a:rPr lang="en-US" sz="39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 é Uma Lista Circular?</a:t>
            </a:r>
            <a:endParaRPr dirty="0"/>
          </a:p>
        </p:txBody>
      </p:sp>
      <p:sp>
        <p:nvSpPr>
          <p:cNvPr id="158" name="Google Shape;158;p19"/>
          <p:cNvSpPr/>
          <p:nvPr/>
        </p:nvSpPr>
        <p:spPr>
          <a:xfrm>
            <a:off x="571500" y="1100137"/>
            <a:ext cx="95250" cy="1238250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571500" y="2928937"/>
            <a:ext cx="4953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Diferente da lista encadeada simples, onde o último elemento aponta para null, na </a:t>
            </a:r>
            <a:r>
              <a:rPr lang="en-US" sz="1650" b="1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Lista Circular</a:t>
            </a: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último nó aponta de volta para o primeiro (HEAD).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460533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Isso cria um ciclo contínuo, útil para sistemas de round-robin, buffers de som ou jogos com turnos infinitos.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2F21055-10BE-F283-A1B7-8B916DB89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196" y="1376361"/>
            <a:ext cx="6198107" cy="46577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0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3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070175"/>
            <a:ext cx="5286375" cy="17177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 Estrutura Base: Classe Nodo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71500" y="27479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 Célula da Lista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71500" y="317658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Cada elemento na lista é um objeto chamado Nodo. Ele armazena: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418623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3" name="Google Shape;173;p20"/>
          <p:cNvSpPr txBox="1"/>
          <p:nvPr/>
        </p:nvSpPr>
        <p:spPr>
          <a:xfrm>
            <a:off x="647700" y="4079081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Valor: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dado real (ex: string,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número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dirty="0"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4586286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dirty="0"/>
          </a:p>
        </p:txBody>
      </p:sp>
      <p:sp>
        <p:nvSpPr>
          <p:cNvPr id="175" name="Google Shape;175;p20"/>
          <p:cNvSpPr txBox="1"/>
          <p:nvPr/>
        </p:nvSpPr>
        <p:spPr>
          <a:xfrm>
            <a:off x="647700" y="4488656"/>
            <a:ext cx="4905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Próximo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endereço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ponteiro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) para o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próximo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item da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corrente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1268"/>
            <a:ext cx="5286375" cy="279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Inserção de Elementos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6334125" y="295751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Garantindo a Circularidade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6334125" y="33861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Ao inserir, sempre devemos garantir que o tail.proximo aponte para o head.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334125" y="422433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complexidade de inserção é:</a:t>
            </a:r>
            <a:endParaRPr/>
          </a:p>
        </p:txBody>
      </p:sp>
      <p:pic>
        <p:nvPicPr>
          <p:cNvPr id="187" name="Google Shape;18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748212"/>
            <a:ext cx="528637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243262"/>
            <a:ext cx="5286375" cy="137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Leitura e Percorrimento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571500" y="24050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O Loop do...while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2833687"/>
            <a:ext cx="528637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Como o início é igual ao fim em um ciclo, o percorrimento precisa de uma lógica especial para não entrar em loop infinito ou parar antes de começar.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571500" y="4300537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Usamos o do...while para garantir que o código visite o HEAD pelo menos uma vez antes de verificar se voltou a ele.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Edição e Exclusão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51101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*n é o número de elementos na lista.</a:t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>
            <a:off x="571500" y="2224087"/>
            <a:ext cx="11049000" cy="26955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23"/>
          <p:cNvGraphicFramePr/>
          <p:nvPr/>
        </p:nvGraphicFramePr>
        <p:xfrm>
          <a:off x="571500" y="2224087"/>
          <a:ext cx="11048975" cy="2695600"/>
        </p:xfrm>
        <a:graphic>
          <a:graphicData uri="http://schemas.openxmlformats.org/drawingml/2006/table">
            <a:tbl>
              <a:tblPr firstRow="1" bandRow="1">
                <a:noFill/>
                <a:tableStyleId>{16F30BFB-1D78-4B91-B2F3-D8AE75EDD401}</a:tableStyleId>
              </a:tblPr>
              <a:tblGrid>
                <a:gridCol w="188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Operação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Lógica Principal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Complexidade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Editar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Busca o valor atual e substitui o campo valor do Nodo.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Excluir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Rearranja os ponteiros para "pular" o Nodo removido.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Excluir Head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 tail precisa ser atualizado para apontar ao novo HEAD.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2D374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O(1)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9" name="Google Shape;209;p23"/>
          <p:cNvSpPr/>
          <p:nvPr/>
        </p:nvSpPr>
        <p:spPr>
          <a:xfrm>
            <a:off x="571500" y="3571875"/>
            <a:ext cx="1888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459980" y="3571875"/>
            <a:ext cx="7043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9503866" y="3571875"/>
            <a:ext cx="211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71500" y="4238625"/>
            <a:ext cx="1888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459980" y="4238625"/>
            <a:ext cx="7043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9503866" y="4238625"/>
            <a:ext cx="211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4905375"/>
            <a:ext cx="1888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2459980" y="4905375"/>
            <a:ext cx="70438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9503866" y="4905375"/>
            <a:ext cx="21166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2406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809625" y="571500"/>
            <a:ext cx="10751343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Painel de Controle (DOM)</a:t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571500" y="571500"/>
            <a:ext cx="95250" cy="619125"/>
          </a:xfrm>
          <a:prstGeom prst="rect">
            <a:avLst/>
          </a:prstGeom>
          <a:solidFill>
            <a:srgbClr val="F7DF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71500" y="271938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Integração HTML/JS</a:t>
            </a:r>
            <a:endParaRPr/>
          </a:p>
        </p:txBody>
      </p:sp>
      <p:sp>
        <p:nvSpPr>
          <p:cNvPr id="227" name="Google Shape;227;p24"/>
          <p:cNvSpPr txBox="1"/>
          <p:nvPr/>
        </p:nvSpPr>
        <p:spPr>
          <a:xfrm>
            <a:off x="571500" y="3148012"/>
            <a:ext cx="10751343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aplicação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utiliza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650" b="1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DOM (Document Object Model)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conectar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cliques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botões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às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funções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da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classe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ListaCircular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28" name="Google Shape;228;p24"/>
          <p:cNvSpPr txBox="1"/>
          <p:nvPr/>
        </p:nvSpPr>
        <p:spPr>
          <a:xfrm>
            <a:off x="571500" y="4300537"/>
            <a:ext cx="1049274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Campos de input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capturam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os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valores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e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acionam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métodos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dispararInserir</a:t>
            </a:r>
            <a:r>
              <a:rPr lang="en-US" sz="1650" b="0" i="0" u="none" strike="noStrike" cap="none" dirty="0">
                <a:solidFill>
                  <a:srgbClr val="2D3748"/>
                </a:solidFill>
                <a:latin typeface="DM Sans"/>
                <a:ea typeface="DM Sans"/>
                <a:cs typeface="DM Sans"/>
                <a:sym typeface="DM Sans"/>
              </a:rPr>
              <a:t>().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295275" y="2947987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Dúvidas</a:t>
            </a:r>
            <a:r>
              <a:rPr lang="en-US" sz="6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?</a:t>
            </a:r>
            <a:endParaRPr dirty="0"/>
          </a:p>
        </p:txBody>
      </p:sp>
      <p:sp>
        <p:nvSpPr>
          <p:cNvPr id="238" name="Google Shape;238;p25"/>
          <p:cNvSpPr txBox="1"/>
          <p:nvPr/>
        </p:nvSpPr>
        <p:spPr>
          <a:xfrm>
            <a:off x="571500" y="3910012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 dirty="0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Equipe 3: Rafael, Lucas, Daniel, Bruna e Guilherme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551</Words>
  <Application>Microsoft Office PowerPoint</Application>
  <PresentationFormat>Widescreen</PresentationFormat>
  <Paragraphs>61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Merriweather</vt:lpstr>
      <vt:lpstr>Arial</vt:lpstr>
      <vt:lpstr>DM Sans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Bruna Takuti</cp:lastModifiedBy>
  <cp:revision>5</cp:revision>
  <dcterms:modified xsi:type="dcterms:W3CDTF">2026-05-25T13:52:09Z</dcterms:modified>
</cp:coreProperties>
</file>