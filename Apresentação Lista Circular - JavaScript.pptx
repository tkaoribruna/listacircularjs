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DM Sans" panose="020F0502020204030204" pitchFamily="2" charset="0"/>
      <p:regular r:id="rId16"/>
      <p:bold r:id="rId17"/>
      <p:italic r:id="rId18"/>
      <p:boldItalic r:id="rId19"/>
    </p:embeddedFont>
    <p:embeddedFont>
      <p:font typeface="Merriweather" panose="020F0502020204030204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6F30BFB-1D78-4B91-B2F3-D8AE75EDD401}">
  <a:tblStyle styleId="{16F30BFB-1D78-4B91-B2F3-D8AE75EDD40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2000250"/>
            <a:ext cx="1160145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75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Lista Circular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3514725"/>
            <a:ext cx="11049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4A5568"/>
                </a:solidFill>
                <a:latin typeface="DM Sans"/>
                <a:ea typeface="DM Sans"/>
                <a:cs typeface="DM Sans"/>
                <a:sym typeface="DM Sans"/>
              </a:rPr>
              <a:t>Estrutura de Dados e Linguagens de Programação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4657725"/>
            <a:ext cx="110490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 u="none" strike="noStrike" cap="none">
                <a:solidFill>
                  <a:srgbClr val="4A5568"/>
                </a:solidFill>
                <a:latin typeface="DM Sans"/>
                <a:ea typeface="DM Sans"/>
                <a:cs typeface="DM Sans"/>
                <a:sym typeface="DM Sans"/>
              </a:rPr>
              <a:t> Equipe 3: Rafael, Lucas, Daniel, Bruna e Guilherme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295275" y="3009900"/>
            <a:ext cx="1160145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 dirty="0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JavaScript: Uma Breve Jornada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24062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809625" y="571500"/>
            <a:ext cx="10751343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Origem e Curiosidades</a:t>
            </a:r>
            <a:endParaRPr/>
          </a:p>
        </p:txBody>
      </p:sp>
      <p:sp>
        <p:nvSpPr>
          <p:cNvPr id="102" name="Google Shape;102;p15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F7DF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571500" y="2247900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O Início Explosivo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571500" y="2676525"/>
            <a:ext cx="10751343" cy="76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Criado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em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apenas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1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10 </a:t>
            </a:r>
            <a:r>
              <a:rPr lang="en-US" sz="1650" b="1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dias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por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Brendan Eich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em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1995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na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Netscape.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Originalmente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chamado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de Mocha,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depois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LiveScript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105" name="Google Shape;105;p15"/>
          <p:cNvSpPr txBox="1"/>
          <p:nvPr/>
        </p:nvSpPr>
        <p:spPr>
          <a:xfrm>
            <a:off x="571500" y="4029075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Mito do Nome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571500" y="4457700"/>
            <a:ext cx="11049000" cy="76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O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nome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"JavaScript"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foi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uma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jogada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de marketing para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aproveitar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o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sucesso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da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linguagem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Java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na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época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,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apesar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de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serem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tecnicamente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muito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diferentes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33575"/>
            <a:ext cx="3492549" cy="399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1933575"/>
            <a:ext cx="3492549" cy="399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1933575"/>
            <a:ext cx="3492549" cy="399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809625" y="571500"/>
            <a:ext cx="10751343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Configuração do Ambiente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F7DF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4875" y="2266950"/>
            <a:ext cx="2825799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6"/>
          <p:cNvSpPr txBox="1"/>
          <p:nvPr/>
        </p:nvSpPr>
        <p:spPr>
          <a:xfrm>
            <a:off x="904875" y="2886075"/>
            <a:ext cx="296708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Node.js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904875" y="3438525"/>
            <a:ext cx="2825799" cy="1885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O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ambiente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de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execução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que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permite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rodar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JavaScript fora do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navegador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,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essencial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para testes de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servidor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e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lógica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pura.</a:t>
            </a:r>
            <a:endParaRPr dirty="0"/>
          </a:p>
        </p:txBody>
      </p:sp>
      <p:pic>
        <p:nvPicPr>
          <p:cNvPr id="121" name="Google Shape;121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83174" y="2266950"/>
            <a:ext cx="2825799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6"/>
          <p:cNvSpPr txBox="1"/>
          <p:nvPr/>
        </p:nvSpPr>
        <p:spPr>
          <a:xfrm>
            <a:off x="4683174" y="2886075"/>
            <a:ext cx="296708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VS Code</a:t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4683174" y="3438525"/>
            <a:ext cx="2825799" cy="157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Editor de código líder da indústria com excelentes extensões de IntelliSense e depuração para ecossistema JS.</a:t>
            </a:r>
            <a:endParaRPr/>
          </a:p>
        </p:txBody>
      </p:sp>
      <p:pic>
        <p:nvPicPr>
          <p:cNvPr id="124" name="Google Shape;124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61474" y="2266950"/>
            <a:ext cx="2825799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6"/>
          <p:cNvSpPr txBox="1"/>
          <p:nvPr/>
        </p:nvSpPr>
        <p:spPr>
          <a:xfrm>
            <a:off x="8461474" y="2886075"/>
            <a:ext cx="296708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DevTools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8461474" y="3438525"/>
            <a:ext cx="2825799" cy="157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O console do navegador (F12) é o playground imediato para testar sintaxes e manipular o DOM em tempo real.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070175"/>
            <a:ext cx="5286375" cy="1717774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7"/>
          <p:cNvSpPr txBox="1"/>
          <p:nvPr/>
        </p:nvSpPr>
        <p:spPr>
          <a:xfrm>
            <a:off x="809625" y="571500"/>
            <a:ext cx="10751343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Sintaxe Básica e Tipagem</a:t>
            </a:r>
            <a:endParaRPr/>
          </a:p>
        </p:txBody>
      </p:sp>
      <p:sp>
        <p:nvSpPr>
          <p:cNvPr id="134" name="Google Shape;134;p17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F7DF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 txBox="1"/>
          <p:nvPr/>
        </p:nvSpPr>
        <p:spPr>
          <a:xfrm>
            <a:off x="571499" y="2838513"/>
            <a:ext cx="5286375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1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Declarações</a:t>
            </a:r>
            <a:r>
              <a:rPr lang="en-US" sz="1650" b="1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let e const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substituíram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o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antigo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var.</a:t>
            </a:r>
            <a:endParaRPr dirty="0"/>
          </a:p>
        </p:txBody>
      </p:sp>
      <p:sp>
        <p:nvSpPr>
          <p:cNvPr id="136" name="Google Shape;136;p17"/>
          <p:cNvSpPr txBox="1"/>
          <p:nvPr/>
        </p:nvSpPr>
        <p:spPr>
          <a:xfrm>
            <a:off x="571498" y="3405567"/>
            <a:ext cx="5286375" cy="76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1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Tipagem</a:t>
            </a:r>
            <a:r>
              <a:rPr lang="en-US" sz="1650" b="1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1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Dinâmica</a:t>
            </a:r>
            <a:r>
              <a:rPr lang="en-US" sz="1650" b="1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Variáveis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podem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mudar de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tipo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durante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a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execução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137" name="Google Shape;137;p17"/>
          <p:cNvSpPr txBox="1"/>
          <p:nvPr/>
        </p:nvSpPr>
        <p:spPr>
          <a:xfrm>
            <a:off x="571500" y="4243387"/>
            <a:ext cx="5286375" cy="76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Template Literals: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Uso de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crases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para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interpolação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de strings.</a:t>
            </a:r>
            <a:endParaRPr dirty="0"/>
          </a:p>
        </p:txBody>
      </p:sp>
      <p:pic>
        <p:nvPicPr>
          <p:cNvPr id="138" name="Google Shape;13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499" y="2955194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499" y="3506024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499" y="4353495"/>
            <a:ext cx="180975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4258716"/>
            <a:ext cx="5286375" cy="82659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 txBox="1"/>
          <p:nvPr/>
        </p:nvSpPr>
        <p:spPr>
          <a:xfrm>
            <a:off x="809625" y="571500"/>
            <a:ext cx="10751343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Primeiro Passo: Hello World</a:t>
            </a:r>
            <a:endParaRPr/>
          </a:p>
        </p:txBody>
      </p:sp>
      <p:sp>
        <p:nvSpPr>
          <p:cNvPr id="148" name="Google Shape;148;p18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F7DF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024062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6334125" y="2677566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A Função console.log()</a:t>
            </a:r>
            <a:endParaRPr/>
          </a:p>
        </p:txBody>
      </p:sp>
      <p:sp>
        <p:nvSpPr>
          <p:cNvPr id="151" name="Google Shape;151;p18"/>
          <p:cNvSpPr txBox="1"/>
          <p:nvPr/>
        </p:nvSpPr>
        <p:spPr>
          <a:xfrm>
            <a:off x="6334125" y="3106191"/>
            <a:ext cx="5286375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A forma mais básica de saída de dados no JavaScript. Utilizada tanto no terminal quanto no console do navegador para depuração.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9"/>
          <p:cNvSpPr txBox="1"/>
          <p:nvPr/>
        </p:nvSpPr>
        <p:spPr>
          <a:xfrm>
            <a:off x="809625" y="1100137"/>
            <a:ext cx="4950618" cy="123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 dirty="0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O </a:t>
            </a:r>
            <a:r>
              <a:rPr lang="en-US" sz="3900" b="1" dirty="0" err="1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q</a:t>
            </a:r>
            <a:r>
              <a:rPr lang="en-US" sz="3900" b="1" i="0" u="none" strike="noStrike" cap="none" dirty="0" err="1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ue</a:t>
            </a:r>
            <a:r>
              <a:rPr lang="en-US" sz="3900" b="1" i="0" u="none" strike="noStrike" cap="none" dirty="0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 é Uma Lista Circular?</a:t>
            </a:r>
            <a:endParaRPr dirty="0"/>
          </a:p>
        </p:txBody>
      </p:sp>
      <p:sp>
        <p:nvSpPr>
          <p:cNvPr id="158" name="Google Shape;158;p19"/>
          <p:cNvSpPr/>
          <p:nvPr/>
        </p:nvSpPr>
        <p:spPr>
          <a:xfrm>
            <a:off x="571500" y="1100137"/>
            <a:ext cx="95250" cy="1238250"/>
          </a:xfrm>
          <a:prstGeom prst="rect">
            <a:avLst/>
          </a:prstGeom>
          <a:solidFill>
            <a:srgbClr val="F7DF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9"/>
          <p:cNvSpPr txBox="1"/>
          <p:nvPr/>
        </p:nvSpPr>
        <p:spPr>
          <a:xfrm>
            <a:off x="571500" y="2928937"/>
            <a:ext cx="4953000" cy="12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Diferente da lista encadeada simples, onde o último elemento aponta para null, na </a:t>
            </a:r>
            <a:r>
              <a:rPr lang="en-US" sz="1650" b="1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Lista Circular</a:t>
            </a: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o último nó aponta de volta para o primeiro (HEAD).</a:t>
            </a:r>
            <a:endParaRPr/>
          </a:p>
        </p:txBody>
      </p:sp>
      <p:sp>
        <p:nvSpPr>
          <p:cNvPr id="160" name="Google Shape;160;p19"/>
          <p:cNvSpPr txBox="1"/>
          <p:nvPr/>
        </p:nvSpPr>
        <p:spPr>
          <a:xfrm>
            <a:off x="571500" y="4605337"/>
            <a:ext cx="49530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Isso cria um ciclo contínuo, útil para sistemas de round-robin, buffers de som ou jogos com turnos infinitos.</a:t>
            </a: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2F21055-10BE-F283-A1B7-8B916DB891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9196" y="1376361"/>
            <a:ext cx="6198107" cy="46577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070175"/>
            <a:ext cx="5286375" cy="1717774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0"/>
          <p:cNvSpPr txBox="1"/>
          <p:nvPr/>
        </p:nvSpPr>
        <p:spPr>
          <a:xfrm>
            <a:off x="809625" y="571500"/>
            <a:ext cx="10751343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A Estrutura Base: Classe Nodo</a:t>
            </a:r>
            <a:endParaRPr/>
          </a:p>
        </p:txBody>
      </p:sp>
      <p:sp>
        <p:nvSpPr>
          <p:cNvPr id="169" name="Google Shape;169;p20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F7DF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0"/>
          <p:cNvSpPr txBox="1"/>
          <p:nvPr/>
        </p:nvSpPr>
        <p:spPr>
          <a:xfrm>
            <a:off x="571500" y="2747962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A Célula da Lista</a:t>
            </a:r>
            <a:endParaRPr/>
          </a:p>
        </p:txBody>
      </p:sp>
      <p:sp>
        <p:nvSpPr>
          <p:cNvPr id="171" name="Google Shape;171;p20"/>
          <p:cNvSpPr txBox="1"/>
          <p:nvPr/>
        </p:nvSpPr>
        <p:spPr>
          <a:xfrm>
            <a:off x="571500" y="3176587"/>
            <a:ext cx="5286375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Cada elemento na lista é um objeto chamado Nodo. Ele armazena:</a:t>
            </a:r>
            <a:endParaRPr/>
          </a:p>
        </p:txBody>
      </p:sp>
      <p:sp>
        <p:nvSpPr>
          <p:cNvPr id="172" name="Google Shape;172;p20"/>
          <p:cNvSpPr txBox="1"/>
          <p:nvPr/>
        </p:nvSpPr>
        <p:spPr>
          <a:xfrm>
            <a:off x="876300" y="4014787"/>
            <a:ext cx="762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73" name="Google Shape;173;p20"/>
          <p:cNvSpPr txBox="1"/>
          <p:nvPr/>
        </p:nvSpPr>
        <p:spPr>
          <a:xfrm>
            <a:off x="952500" y="4014787"/>
            <a:ext cx="49053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Valor:</a:t>
            </a: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O dado real (ex: string, número).</a:t>
            </a:r>
            <a:endParaRPr/>
          </a:p>
        </p:txBody>
      </p:sp>
      <p:sp>
        <p:nvSpPr>
          <p:cNvPr id="174" name="Google Shape;174;p20"/>
          <p:cNvSpPr txBox="1"/>
          <p:nvPr/>
        </p:nvSpPr>
        <p:spPr>
          <a:xfrm>
            <a:off x="876300" y="4329112"/>
            <a:ext cx="762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75" name="Google Shape;175;p20"/>
          <p:cNvSpPr txBox="1"/>
          <p:nvPr/>
        </p:nvSpPr>
        <p:spPr>
          <a:xfrm>
            <a:off x="952500" y="4329112"/>
            <a:ext cx="4905375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Próximo:</a:t>
            </a: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O endereço (ponteiro) para o próximo item da corrente.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31268"/>
            <a:ext cx="5286375" cy="2795587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1"/>
          <p:cNvSpPr txBox="1"/>
          <p:nvPr/>
        </p:nvSpPr>
        <p:spPr>
          <a:xfrm>
            <a:off x="809625" y="571500"/>
            <a:ext cx="10751343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Inserção de Elementos</a:t>
            </a:r>
            <a:endParaRPr/>
          </a:p>
        </p:txBody>
      </p:sp>
      <p:sp>
        <p:nvSpPr>
          <p:cNvPr id="183" name="Google Shape;183;p21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F7DF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1"/>
          <p:cNvSpPr txBox="1"/>
          <p:nvPr/>
        </p:nvSpPr>
        <p:spPr>
          <a:xfrm>
            <a:off x="6334125" y="2957512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Garantindo a Circularidade</a:t>
            </a:r>
            <a:endParaRPr/>
          </a:p>
        </p:txBody>
      </p:sp>
      <p:sp>
        <p:nvSpPr>
          <p:cNvPr id="185" name="Google Shape;185;p21"/>
          <p:cNvSpPr txBox="1"/>
          <p:nvPr/>
        </p:nvSpPr>
        <p:spPr>
          <a:xfrm>
            <a:off x="6334125" y="3386137"/>
            <a:ext cx="5286375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Ao inserir, sempre devemos garantir que o tail.proximo aponte para o head.</a:t>
            </a:r>
            <a:endParaRPr/>
          </a:p>
        </p:txBody>
      </p:sp>
      <p:sp>
        <p:nvSpPr>
          <p:cNvPr id="186" name="Google Shape;186;p21"/>
          <p:cNvSpPr txBox="1"/>
          <p:nvPr/>
        </p:nvSpPr>
        <p:spPr>
          <a:xfrm>
            <a:off x="6334125" y="4224337"/>
            <a:ext cx="528637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A complexidade de inserção é:</a:t>
            </a:r>
            <a:endParaRPr/>
          </a:p>
        </p:txBody>
      </p:sp>
      <p:pic>
        <p:nvPicPr>
          <p:cNvPr id="187" name="Google Shape;187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4748212"/>
            <a:ext cx="5286375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243262"/>
            <a:ext cx="5286375" cy="1371451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2"/>
          <p:cNvSpPr txBox="1"/>
          <p:nvPr/>
        </p:nvSpPr>
        <p:spPr>
          <a:xfrm>
            <a:off x="809625" y="571500"/>
            <a:ext cx="10751343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Leitura e Percorrimento</a:t>
            </a:r>
            <a:endParaRPr/>
          </a:p>
        </p:txBody>
      </p:sp>
      <p:sp>
        <p:nvSpPr>
          <p:cNvPr id="195" name="Google Shape;195;p22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F7DF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2"/>
          <p:cNvSpPr txBox="1"/>
          <p:nvPr/>
        </p:nvSpPr>
        <p:spPr>
          <a:xfrm>
            <a:off x="571500" y="2405062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O Loop do...while</a:t>
            </a:r>
            <a:endParaRPr/>
          </a:p>
        </p:txBody>
      </p:sp>
      <p:sp>
        <p:nvSpPr>
          <p:cNvPr id="197" name="Google Shape;197;p22"/>
          <p:cNvSpPr txBox="1"/>
          <p:nvPr/>
        </p:nvSpPr>
        <p:spPr>
          <a:xfrm>
            <a:off x="571500" y="2833687"/>
            <a:ext cx="5286375" cy="12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Como o início é igual ao fim em um ciclo, o percorrimento precisa de uma lógica especial para não entrar em loop infinito ou parar antes de começar.</a:t>
            </a:r>
            <a:endParaRPr/>
          </a:p>
        </p:txBody>
      </p:sp>
      <p:sp>
        <p:nvSpPr>
          <p:cNvPr id="198" name="Google Shape;198;p22"/>
          <p:cNvSpPr txBox="1"/>
          <p:nvPr/>
        </p:nvSpPr>
        <p:spPr>
          <a:xfrm>
            <a:off x="571500" y="4300537"/>
            <a:ext cx="5286375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Usamos o do...while para garantir que o código visite o HEAD pelo menos uma vez antes de verificar se voltou a ele.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3"/>
          <p:cNvSpPr txBox="1"/>
          <p:nvPr/>
        </p:nvSpPr>
        <p:spPr>
          <a:xfrm>
            <a:off x="809625" y="571500"/>
            <a:ext cx="10751343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Edição e Exclusão</a:t>
            </a:r>
            <a:endParaRPr/>
          </a:p>
        </p:txBody>
      </p:sp>
      <p:sp>
        <p:nvSpPr>
          <p:cNvPr id="205" name="Google Shape;205;p23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F7DF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3"/>
          <p:cNvSpPr txBox="1"/>
          <p:nvPr/>
        </p:nvSpPr>
        <p:spPr>
          <a:xfrm>
            <a:off x="571500" y="5110162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*n é o número de elementos na lista.</a:t>
            </a:r>
            <a:endParaRPr/>
          </a:p>
        </p:txBody>
      </p:sp>
      <p:sp>
        <p:nvSpPr>
          <p:cNvPr id="207" name="Google Shape;207;p23"/>
          <p:cNvSpPr/>
          <p:nvPr/>
        </p:nvSpPr>
        <p:spPr>
          <a:xfrm>
            <a:off x="571500" y="2224087"/>
            <a:ext cx="11049000" cy="269557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8" name="Google Shape;208;p23"/>
          <p:cNvGraphicFramePr/>
          <p:nvPr/>
        </p:nvGraphicFramePr>
        <p:xfrm>
          <a:off x="571500" y="2224087"/>
          <a:ext cx="11048975" cy="2695600"/>
        </p:xfrm>
        <a:graphic>
          <a:graphicData uri="http://schemas.openxmlformats.org/drawingml/2006/table">
            <a:tbl>
              <a:tblPr firstRow="1" bandRow="1">
                <a:noFill/>
                <a:tableStyleId>{16F30BFB-1D78-4B91-B2F3-D8AE75EDD401}</a:tableStyleId>
              </a:tblPr>
              <a:tblGrid>
                <a:gridCol w="1888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3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3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Operação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Lógica Principal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Complexidade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3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2D374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Editar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rgbClr val="2D374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Busca o valor atual e substitui o campo valor do Nodo.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rgbClr val="2D374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O(n)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3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2D374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Excluir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rgbClr val="2D374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Rearranja os ponteiros para "pular" o Nodo removido.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rgbClr val="2D374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O(n)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39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2D374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Excluir Head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rgbClr val="2D374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 tail precisa ser atualizado para apontar ao novo HEAD.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rgbClr val="2D3748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O(1)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9" name="Google Shape;209;p23"/>
          <p:cNvSpPr/>
          <p:nvPr/>
        </p:nvSpPr>
        <p:spPr>
          <a:xfrm>
            <a:off x="571500" y="3571875"/>
            <a:ext cx="188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3"/>
          <p:cNvSpPr/>
          <p:nvPr/>
        </p:nvSpPr>
        <p:spPr>
          <a:xfrm>
            <a:off x="2459980" y="3571875"/>
            <a:ext cx="70438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3"/>
          <p:cNvSpPr/>
          <p:nvPr/>
        </p:nvSpPr>
        <p:spPr>
          <a:xfrm>
            <a:off x="9503866" y="3571875"/>
            <a:ext cx="211663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3"/>
          <p:cNvSpPr/>
          <p:nvPr/>
        </p:nvSpPr>
        <p:spPr>
          <a:xfrm>
            <a:off x="571500" y="4238625"/>
            <a:ext cx="188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3"/>
          <p:cNvSpPr/>
          <p:nvPr/>
        </p:nvSpPr>
        <p:spPr>
          <a:xfrm>
            <a:off x="2459980" y="4238625"/>
            <a:ext cx="70438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3"/>
          <p:cNvSpPr/>
          <p:nvPr/>
        </p:nvSpPr>
        <p:spPr>
          <a:xfrm>
            <a:off x="9503866" y="4238625"/>
            <a:ext cx="211663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3"/>
          <p:cNvSpPr/>
          <p:nvPr/>
        </p:nvSpPr>
        <p:spPr>
          <a:xfrm>
            <a:off x="571500" y="4905375"/>
            <a:ext cx="188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3"/>
          <p:cNvSpPr/>
          <p:nvPr/>
        </p:nvSpPr>
        <p:spPr>
          <a:xfrm>
            <a:off x="2459980" y="4905375"/>
            <a:ext cx="70438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3"/>
          <p:cNvSpPr/>
          <p:nvPr/>
        </p:nvSpPr>
        <p:spPr>
          <a:xfrm>
            <a:off x="9503866" y="4905375"/>
            <a:ext cx="211663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24062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4"/>
          <p:cNvSpPr txBox="1"/>
          <p:nvPr/>
        </p:nvSpPr>
        <p:spPr>
          <a:xfrm>
            <a:off x="809625" y="571500"/>
            <a:ext cx="10751343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Painel de Controle (DOM)</a:t>
            </a:r>
            <a:endParaRPr/>
          </a:p>
        </p:txBody>
      </p:sp>
      <p:sp>
        <p:nvSpPr>
          <p:cNvPr id="225" name="Google Shape;225;p24"/>
          <p:cNvSpPr/>
          <p:nvPr/>
        </p:nvSpPr>
        <p:spPr>
          <a:xfrm>
            <a:off x="571500" y="571500"/>
            <a:ext cx="95250" cy="619125"/>
          </a:xfrm>
          <a:prstGeom prst="rect">
            <a:avLst/>
          </a:prstGeom>
          <a:solidFill>
            <a:srgbClr val="F7DF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4"/>
          <p:cNvSpPr txBox="1"/>
          <p:nvPr/>
        </p:nvSpPr>
        <p:spPr>
          <a:xfrm>
            <a:off x="571500" y="2719387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Integração HTML/JS</a:t>
            </a:r>
            <a:endParaRPr/>
          </a:p>
        </p:txBody>
      </p:sp>
      <p:sp>
        <p:nvSpPr>
          <p:cNvPr id="227" name="Google Shape;227;p24"/>
          <p:cNvSpPr txBox="1"/>
          <p:nvPr/>
        </p:nvSpPr>
        <p:spPr>
          <a:xfrm>
            <a:off x="571500" y="3148012"/>
            <a:ext cx="10751343" cy="76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A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aplicação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utiliza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o </a:t>
            </a:r>
            <a:r>
              <a:rPr lang="en-US" sz="1650" b="1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DOM (Document Object Model)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para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conectar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cliques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em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botões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às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funções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da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classe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ListaCircular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228" name="Google Shape;228;p24"/>
          <p:cNvSpPr txBox="1"/>
          <p:nvPr/>
        </p:nvSpPr>
        <p:spPr>
          <a:xfrm>
            <a:off x="571500" y="4300537"/>
            <a:ext cx="10492740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Campos de input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capturam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os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valores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e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acionam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métodos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como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50" b="0" i="0" u="none" strike="noStrike" cap="none" dirty="0" err="1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dispararInserir</a:t>
            </a:r>
            <a:r>
              <a:rPr lang="en-US" sz="1650" b="0" i="0" u="none" strike="noStrike" cap="none" dirty="0">
                <a:solidFill>
                  <a:srgbClr val="2D3748"/>
                </a:solidFill>
                <a:latin typeface="DM Sans"/>
                <a:ea typeface="DM Sans"/>
                <a:cs typeface="DM Sans"/>
                <a:sym typeface="DM Sans"/>
              </a:rPr>
              <a:t>().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5"/>
          <p:cNvSpPr txBox="1"/>
          <p:nvPr/>
        </p:nvSpPr>
        <p:spPr>
          <a:xfrm>
            <a:off x="295275" y="2947987"/>
            <a:ext cx="11601450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 err="1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Dúvidas</a:t>
            </a:r>
            <a:r>
              <a:rPr lang="en-US" sz="6000" b="1" i="0" u="none" strike="noStrike" cap="none" dirty="0">
                <a:solidFill>
                  <a:srgbClr val="003366"/>
                </a:solidFill>
                <a:latin typeface="Merriweather"/>
                <a:ea typeface="Merriweather"/>
                <a:cs typeface="Merriweather"/>
                <a:sym typeface="Merriweather"/>
              </a:rPr>
              <a:t>?</a:t>
            </a:r>
            <a:endParaRPr dirty="0"/>
          </a:p>
        </p:txBody>
      </p:sp>
      <p:sp>
        <p:nvSpPr>
          <p:cNvPr id="238" name="Google Shape;238;p25"/>
          <p:cNvSpPr txBox="1"/>
          <p:nvPr/>
        </p:nvSpPr>
        <p:spPr>
          <a:xfrm>
            <a:off x="571500" y="3910012"/>
            <a:ext cx="110490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 u="none" strike="noStrike" cap="none" dirty="0">
                <a:solidFill>
                  <a:srgbClr val="4A5568"/>
                </a:solidFill>
                <a:latin typeface="DM Sans"/>
                <a:ea typeface="DM Sans"/>
                <a:cs typeface="DM Sans"/>
                <a:sym typeface="DM Sans"/>
              </a:rPr>
              <a:t> Equipe 3: Rafael, Lucas, Daniel, Bruna e Guilherme 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551</Words>
  <Application>Microsoft Office PowerPoint</Application>
  <PresentationFormat>Widescreen</PresentationFormat>
  <Paragraphs>61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8" baseType="lpstr">
      <vt:lpstr>Merriweather</vt:lpstr>
      <vt:lpstr>Calibri</vt:lpstr>
      <vt:lpstr>DM Sans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Bruna Takuti</cp:lastModifiedBy>
  <cp:revision>4</cp:revision>
  <dcterms:modified xsi:type="dcterms:W3CDTF">2026-05-24T16:08:15Z</dcterms:modified>
</cp:coreProperties>
</file>