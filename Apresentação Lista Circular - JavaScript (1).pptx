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F30BFB-1D78-4B91-B2F3-D8AE75EDD401}">
  <a:tblStyle styleId="{16F30BFB-1D78-4B91-B2F3-D8AE75EDD4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3257904"/>
            <a:ext cx="11601450" cy="9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Lista Circular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13613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Estrutura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de Dados e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Linguagens</a:t>
            </a:r>
            <a:r>
              <a:rPr lang="en-US" sz="2400" b="0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400" b="0" i="0" u="none" strike="noStrike" cap="none" dirty="0" err="1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Programação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948399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Equipe 3: Rafael, Lucas, Daniel, Bruna e Guilherme 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D5C4065-A312-D387-D9D2-9BABFD00BEF9}"/>
              </a:ext>
            </a:extLst>
          </p:cNvPr>
          <p:cNvSpPr txBox="1"/>
          <p:nvPr/>
        </p:nvSpPr>
        <p:spPr>
          <a:xfrm>
            <a:off x="3011079" y="292231"/>
            <a:ext cx="6169842" cy="2360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/>
              <a:t>UNIVERSIDADE TECNOLÓGICA FEDERAL DO PARANÁ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Análise e Desenvolvimento de Sistemas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Docente: Clayton </a:t>
            </a:r>
            <a:r>
              <a:rPr lang="pt-BR" dirty="0" err="1"/>
              <a:t>Kossoski</a:t>
            </a:r>
            <a:endParaRPr lang="pt-BR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dirty="0"/>
            </a:br>
            <a:r>
              <a:rPr lang="pt-BR" dirty="0"/>
              <a:t>Disciplina: Estrutura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676667"/>
            <a:ext cx="11601450" cy="5655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rgbClr val="003366"/>
                </a:solidFill>
                <a:latin typeface="Merriweather"/>
                <a:sym typeface="Merriweather"/>
              </a:rPr>
              <a:t>Visão</a:t>
            </a:r>
            <a:r>
              <a:rPr lang="en-US" sz="40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4000" b="1" dirty="0" err="1">
                <a:solidFill>
                  <a:srgbClr val="003366"/>
                </a:solidFill>
                <a:latin typeface="Merriweather"/>
                <a:sym typeface="Merriweather"/>
              </a:rPr>
              <a:t>geral</a:t>
            </a:r>
            <a:r>
              <a:rPr lang="en-US" sz="4000" b="1" dirty="0">
                <a:solidFill>
                  <a:srgbClr val="003366"/>
                </a:solidFill>
                <a:latin typeface="Merriweather"/>
                <a:sym typeface="Merriweather"/>
              </a:rPr>
              <a:t> da </a:t>
            </a:r>
            <a:r>
              <a:rPr lang="en-US" sz="4000" b="1" dirty="0" err="1">
                <a:solidFill>
                  <a:srgbClr val="003366"/>
                </a:solidFill>
                <a:latin typeface="Merriweather"/>
                <a:sym typeface="Merriweather"/>
              </a:rPr>
              <a:t>apresentação</a:t>
            </a:r>
            <a:r>
              <a:rPr lang="en-US" sz="4000" b="1" dirty="0">
                <a:solidFill>
                  <a:srgbClr val="003366"/>
                </a:solidFill>
                <a:latin typeface="Merriweather"/>
                <a:sym typeface="Merriweather"/>
              </a:rPr>
              <a:t>:</a:t>
            </a:r>
            <a:br>
              <a:rPr lang="en-US" sz="4000" b="1" dirty="0">
                <a:solidFill>
                  <a:srgbClr val="003366"/>
                </a:solidFill>
                <a:latin typeface="Merriweather"/>
                <a:sym typeface="Merriweather"/>
              </a:rPr>
            </a:br>
            <a:r>
              <a:rPr lang="en-US" sz="2500" b="1" dirty="0">
                <a:solidFill>
                  <a:srgbClr val="003366"/>
                </a:solidFill>
                <a:latin typeface="Merriweather"/>
                <a:sym typeface="Merriweather"/>
              </a:rPr>
              <a:t>-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Origem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 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curiosidades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-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Configuração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básica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de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ambiente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Sintaxe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básica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tipagem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Primeiro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passo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: Hello world!;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O que é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uma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lista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circular?;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A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estrutura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base: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classe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nodo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Inserção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de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elementos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Leitura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percorrimento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Edição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exclusão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;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Painel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de </a:t>
            </a:r>
            <a:r>
              <a:rPr lang="en-US" sz="2000" b="1" dirty="0" err="1">
                <a:solidFill>
                  <a:srgbClr val="003366"/>
                </a:solidFill>
                <a:latin typeface="Merriweather"/>
                <a:sym typeface="Merriweather"/>
              </a:rPr>
              <a:t>controle</a:t>
            </a:r>
            <a:r>
              <a:rPr lang="en-US" sz="2000" b="1" dirty="0">
                <a:solidFill>
                  <a:srgbClr val="003366"/>
                </a:solidFill>
                <a:latin typeface="Merriweather"/>
                <a:sym typeface="Merriweather"/>
              </a:rPr>
              <a:t> (DOM);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Origem e Curiosidades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2479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Início Explosivo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676525"/>
            <a:ext cx="10751343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Criado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apenas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dias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Brendan Eich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1995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Netscape.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Originalmente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chamado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Mocha,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depois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LiveScript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0290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Mito do Nome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457700"/>
            <a:ext cx="110490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nome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"JavaScript"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foi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jogada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marketing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aproveitar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sucesso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linguagem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Java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época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apesar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serem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tecnicamente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muito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diferentes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Configuração do Ambiente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04875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Node.js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04875" y="3438525"/>
            <a:ext cx="2825799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ambiente de execução que permite rodar JavaScript fora do navegador, essencial para testes de servidor e lógica pura.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683174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VS Code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83174" y="3438525"/>
            <a:ext cx="2825799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Editor de código líder da indústria com excelentes extensões de IntelliSense e depuração para ecossistema JS.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461474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DevTools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61474" y="3438525"/>
            <a:ext cx="2825799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console do navegador (F12) é o playground imediato para testar sintaxes e manipular o DOM em tempo real.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70175"/>
            <a:ext cx="5286375" cy="17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Sintaxe Básica e Tipagem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499" y="2838513"/>
            <a:ext cx="52863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Declarações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let e const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substituíram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antigo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var.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571498" y="3405567"/>
            <a:ext cx="52863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Tipagem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Dinâmica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Variáveis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podem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mudar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tipo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execução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243387"/>
            <a:ext cx="52863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Template Literals: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Uso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crases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interpolação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strings.</a:t>
            </a:r>
            <a:endParaRPr dirty="0"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29551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350602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435349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258716"/>
            <a:ext cx="5286375" cy="82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Primeiro Passo: Hello World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334125" y="267756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Função console.log()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3106191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forma mais básica de saída de dados no JavaScript. Utilizada tanto no terminal quanto no console do navegador para depuração.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09625" y="1100137"/>
            <a:ext cx="4950618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</a:t>
            </a:r>
            <a:r>
              <a:rPr lang="en-US" sz="39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q</a:t>
            </a:r>
            <a:r>
              <a:rPr lang="en-US" sz="39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ue</a:t>
            </a:r>
            <a:r>
              <a:rPr lang="en-US" sz="39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é Uma Lista Circular?</a:t>
            </a:r>
            <a:endParaRPr dirty="0"/>
          </a:p>
        </p:txBody>
      </p:sp>
      <p:sp>
        <p:nvSpPr>
          <p:cNvPr id="158" name="Google Shape;158;p19"/>
          <p:cNvSpPr/>
          <p:nvPr/>
        </p:nvSpPr>
        <p:spPr>
          <a:xfrm>
            <a:off x="571500" y="1100137"/>
            <a:ext cx="95250" cy="123825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2928937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Diferente da lista encadeada simples, onde o último elemento aponta para null, na </a:t>
            </a:r>
            <a:r>
              <a:rPr lang="en-US" sz="1650" b="1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Lista Circular</a:t>
            </a: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último nó aponta de volta para o primeiro (HEAD).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60533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Isso cria um ciclo contínuo, útil para sistemas de round-robin, buffers de som ou jogos com turnos infinitos.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F21055-10BE-F283-A1B7-8B916DB89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3" y="1100136"/>
            <a:ext cx="6198107" cy="4657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70175"/>
            <a:ext cx="5286375" cy="17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Estrutura Base: Classe Nodo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27479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Célula da Lista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317658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Cada elemento na lista é um objeto chamado Nodo. Ele armazena: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876300" y="40147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52500" y="4014787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Valor:</a:t>
            </a: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dado real (ex: string, número).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76300" y="43291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952500" y="4329112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Próximo:</a:t>
            </a: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endereço (ponteiro) para o próximo item da corrente.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1268"/>
            <a:ext cx="5286375" cy="279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Inserção de Elementos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6334125" y="29575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Garantindo a Circularidade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334125" y="33861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Ao inserir, sempre devemos garantir que o tail.proximo aponte para o head.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334125" y="422433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complexidade de inserção é:</a:t>
            </a:r>
            <a:endParaRPr/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48212"/>
            <a:ext cx="52863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43262"/>
            <a:ext cx="5286375" cy="13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Leitura e Percorrimento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24050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Loop do...while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83368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Como o início é igual ao fim em um ciclo, o percorrimento precisa de uma lógica especial para não entrar em loop infinito ou parar antes de começar.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4300537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Usamos o do...while para garantir que o código visite o HEAD pelo menos uma vez antes de verificar se voltou a ele.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Edição e Exclusão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51101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*n é o número de elementos na lista.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71500" y="2224087"/>
            <a:ext cx="1104900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571500" y="2224087"/>
          <a:ext cx="11048975" cy="2695600"/>
        </p:xfrm>
        <a:graphic>
          <a:graphicData uri="http://schemas.openxmlformats.org/drawingml/2006/table">
            <a:tbl>
              <a:tblPr firstRow="1" bandRow="1">
                <a:noFill/>
                <a:tableStyleId>{16F30BFB-1D78-4B91-B2F3-D8AE75EDD401}</a:tableStyleId>
              </a:tblPr>
              <a:tblGrid>
                <a:gridCol w="188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Lógica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Complexidade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Editar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Busca o valor atual e substitui o campo valor do Nodo.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Excluir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Rearranja os ponteiros para "pular" o Nodo removido.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Excluir Head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 tail precisa ser atualizado para apontar ao novo HEAD.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9" name="Google Shape;209;p23"/>
          <p:cNvSpPr/>
          <p:nvPr/>
        </p:nvSpPr>
        <p:spPr>
          <a:xfrm>
            <a:off x="571500" y="357187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459980" y="357187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503866" y="357187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423862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459980" y="423862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9503866" y="423862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490537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459980" y="490537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9503866" y="490537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Painel de Controle (DOM)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27193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Integração HTML/JS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3148012"/>
            <a:ext cx="10751343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aplicação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utiliza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DOM (Document Object Model)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conectar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cliques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botões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às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funções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classe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ListaCircular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4300537"/>
            <a:ext cx="1049274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Campos de input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capturam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valores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acionam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métodos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dispararInserir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().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295275" y="1590675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Dúvidas?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571500" y="3014319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Equipe 3: Rafael, Lucas, Daniel, Bruna e Guilherme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626</Words>
  <Application>Microsoft Office PowerPoint</Application>
  <PresentationFormat>Widescreen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</vt:lpstr>
      <vt:lpstr>Arial</vt:lpstr>
      <vt:lpstr>Merriweather</vt:lpstr>
      <vt:lpstr>DM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Rafael Moreira</cp:lastModifiedBy>
  <cp:revision>5</cp:revision>
  <dcterms:modified xsi:type="dcterms:W3CDTF">2026-05-25T23:13:32Z</dcterms:modified>
</cp:coreProperties>
</file>